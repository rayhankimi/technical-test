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Montserrat Bold" charset="1" panose="00000800000000000000"/>
      <p:regular r:id="rId22"/>
    </p:embeddedFont>
    <p:embeddedFont>
      <p:font typeface="Montserrat" charset="1" panose="00000500000000000000"/>
      <p:regular r:id="rId23"/>
    </p:embeddedFont>
    <p:embeddedFont>
      <p:font typeface="Cooper Hewitt Bold" charset="1" panose="000000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65982" y="3629978"/>
            <a:ext cx="11556036" cy="1557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TECHNICAL TEST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664817" y="5120322"/>
            <a:ext cx="8958365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Rayhan Kimi Nabiel Athallah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23491" y="169228"/>
            <a:ext cx="10841018" cy="1557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Question 1 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85038" y="2006576"/>
            <a:ext cx="16717924" cy="7399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79"/>
              </a:lnSpc>
            </a:pPr>
            <a:r>
              <a:rPr lang="en-US" b="true" sz="41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Build a backend service (language/framework of your choice) that lets you record subscriber usage and retrieve what's been recorded. A usage record captures: subscriberId, callMinutes, smsCount, dataUsageMB.</a:t>
            </a:r>
          </a:p>
          <a:p>
            <a:pPr algn="just">
              <a:lnSpc>
                <a:spcPts val="5879"/>
              </a:lnSpc>
            </a:pPr>
          </a:p>
          <a:p>
            <a:pPr algn="just">
              <a:lnSpc>
                <a:spcPts val="5879"/>
              </a:lnSpc>
            </a:pPr>
            <a:r>
              <a:rPr lang="en-US" b="true" sz="41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Design the endpoints, HTTP methods, and request/response shapes yourself, and document them in your README. Storage can be in-memory. A simple frontend that consumes this API is not required, but will be viewed as a plus.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60196" y="2362517"/>
            <a:ext cx="5627012" cy="7685321"/>
          </a:xfrm>
          <a:custGeom>
            <a:avLst/>
            <a:gdLst/>
            <a:ahLst/>
            <a:cxnLst/>
            <a:rect r="r" b="b" t="t" l="l"/>
            <a:pathLst>
              <a:path h="7685321" w="5627012">
                <a:moveTo>
                  <a:pt x="0" y="0"/>
                </a:moveTo>
                <a:lnTo>
                  <a:pt x="5627012" y="0"/>
                </a:lnTo>
                <a:lnTo>
                  <a:pt x="5627012" y="7685321"/>
                </a:lnTo>
                <a:lnTo>
                  <a:pt x="0" y="76853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9" r="0" b="-7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13024" y="169228"/>
            <a:ext cx="12541420" cy="1557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Question 1 Solution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51262" y="1867768"/>
            <a:ext cx="9482539" cy="8180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79"/>
              </a:lnSpc>
            </a:pPr>
            <a:r>
              <a:rPr lang="en-US" sz="41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Tools used :</a:t>
            </a:r>
          </a:p>
          <a:p>
            <a:pPr algn="l" marL="712468" indent="-356234" lvl="1">
              <a:lnSpc>
                <a:spcPts val="4619"/>
              </a:lnSpc>
              <a:buAutoNum type="arabicPeriod" startAt="1"/>
            </a:pPr>
            <a:r>
              <a:rPr lang="en-US" sz="32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Backend : FastAPI, Pydantic </a:t>
            </a:r>
          </a:p>
          <a:p>
            <a:pPr algn="l" marL="712468" indent="-356234" lvl="1">
              <a:lnSpc>
                <a:spcPts val="4619"/>
              </a:lnSpc>
              <a:buAutoNum type="arabicPeriod" startAt="1"/>
            </a:pPr>
            <a:r>
              <a:rPr lang="en-US" sz="32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Frontend : Plain html</a:t>
            </a:r>
          </a:p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Quick Start :</a:t>
            </a:r>
          </a:p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Requirement : Docker with Compose Plugin.</a:t>
            </a:r>
          </a:p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`docker compose up -d --build ` to start.</a:t>
            </a:r>
          </a:p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`docker compose down` to stop.</a:t>
            </a:r>
          </a:p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Frontend</a:t>
            </a:r>
            <a:r>
              <a:rPr lang="en-US" sz="3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→ http://localhost:8080</a:t>
            </a:r>
          </a:p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API  </a:t>
            </a:r>
            <a:r>
              <a:rPr lang="en-US" sz="3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     → http://localhost:8000</a:t>
            </a:r>
          </a:p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Swagger</a:t>
            </a:r>
            <a:r>
              <a:rPr lang="en-US" sz="3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→ http://localhost:8000/docs</a:t>
            </a:r>
          </a:p>
          <a:p>
            <a:pPr algn="l">
              <a:lnSpc>
                <a:spcPts val="4619"/>
              </a:lnSpc>
            </a:pPr>
          </a:p>
          <a:p>
            <a:pPr algn="l">
              <a:lnSpc>
                <a:spcPts val="4619"/>
              </a:lnSpc>
            </a:pPr>
          </a:p>
          <a:p>
            <a:pPr algn="just">
              <a:lnSpc>
                <a:spcPts val="587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760196" y="1650047"/>
            <a:ext cx="5627012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Structure 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453901" y="3168734"/>
            <a:ext cx="3600535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Github actions pipeline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207227" y="7468034"/>
            <a:ext cx="243801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60"/>
              </a:lnSpc>
            </a:pPr>
            <a:r>
              <a:rPr lang="en-US" sz="19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Timezone Helpers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07227" y="7078813"/>
            <a:ext cx="305207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60"/>
              </a:lnSpc>
            </a:pPr>
            <a:r>
              <a:rPr lang="en-US" sz="19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Pydantic req/res model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07227" y="6688923"/>
            <a:ext cx="305207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60"/>
              </a:lnSpc>
            </a:pPr>
            <a:r>
              <a:rPr lang="en-US" sz="19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Main app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453901" y="6024520"/>
            <a:ext cx="305207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60"/>
              </a:lnSpc>
            </a:pPr>
            <a:r>
              <a:rPr lang="en-US" sz="19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 serve the frontend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453901" y="5634630"/>
            <a:ext cx="305207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60"/>
              </a:lnSpc>
            </a:pPr>
            <a:r>
              <a:rPr lang="en-US" sz="19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Frontend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5964" y="4787537"/>
            <a:ext cx="9380771" cy="2230091"/>
          </a:xfrm>
          <a:custGeom>
            <a:avLst/>
            <a:gdLst/>
            <a:ahLst/>
            <a:cxnLst/>
            <a:rect r="r" b="b" t="t" l="l"/>
            <a:pathLst>
              <a:path h="2230091" w="9380771">
                <a:moveTo>
                  <a:pt x="0" y="0"/>
                </a:moveTo>
                <a:lnTo>
                  <a:pt x="9380770" y="0"/>
                </a:lnTo>
                <a:lnTo>
                  <a:pt x="9380770" y="2230091"/>
                </a:lnTo>
                <a:lnTo>
                  <a:pt x="0" y="22300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58717" y="166811"/>
            <a:ext cx="14646276" cy="1552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48"/>
              </a:lnSpc>
            </a:pPr>
            <a:r>
              <a:rPr lang="en-US" b="true" sz="910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Question 1 Explanation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85964" y="2059636"/>
            <a:ext cx="8946918" cy="198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65"/>
              </a:lnSpc>
            </a:pPr>
            <a:r>
              <a:rPr lang="en-US" sz="283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Architecture :</a:t>
            </a:r>
          </a:p>
          <a:p>
            <a:pPr algn="just">
              <a:lnSpc>
                <a:spcPts val="3965"/>
              </a:lnSpc>
            </a:pPr>
            <a:r>
              <a:rPr lang="en-US" sz="283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Browser → Nginx (:8080) → “/”             → static html</a:t>
            </a:r>
          </a:p>
          <a:p>
            <a:pPr algn="just">
              <a:lnSpc>
                <a:spcPts val="3965"/>
              </a:lnSpc>
            </a:pPr>
            <a:r>
              <a:rPr lang="en-US" sz="283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                              → “/api/*”    → api:8000/*</a:t>
            </a:r>
          </a:p>
          <a:p>
            <a:pPr algn="just">
              <a:lnSpc>
                <a:spcPts val="3965"/>
              </a:lnSpc>
            </a:pPr>
            <a:r>
              <a:rPr lang="en-US" sz="283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curl          → api (:8000)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85964" y="4154639"/>
            <a:ext cx="8946918" cy="470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65"/>
              </a:lnSpc>
            </a:pPr>
            <a:r>
              <a:rPr lang="en-US" sz="283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Model 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85964" y="7301427"/>
            <a:ext cx="11948649" cy="1956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65"/>
              </a:lnSpc>
            </a:pPr>
            <a:r>
              <a:rPr lang="en-US" sz="283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Endpoints :</a:t>
            </a:r>
          </a:p>
          <a:p>
            <a:pPr algn="just">
              <a:lnSpc>
                <a:spcPts val="3965"/>
              </a:lnSpc>
            </a:pPr>
            <a:r>
              <a:rPr lang="en-US" sz="283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GET /health → Liveness check (used by docker) → Res : 200</a:t>
            </a:r>
          </a:p>
          <a:p>
            <a:pPr algn="just">
              <a:lnSpc>
                <a:spcPts val="3965"/>
              </a:lnSpc>
            </a:pPr>
            <a:r>
              <a:rPr lang="en-US" sz="283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POST /usages → Record usage entry → Res : 201</a:t>
            </a:r>
          </a:p>
          <a:p>
            <a:pPr algn="just">
              <a:lnSpc>
                <a:spcPts val="3965"/>
              </a:lnSpc>
            </a:pPr>
            <a:r>
              <a:rPr lang="en-US" sz="283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GET /usages → Retrieve recorded usages with filter → Res : 200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94370" y="3013226"/>
            <a:ext cx="5088713" cy="2068479"/>
          </a:xfrm>
          <a:custGeom>
            <a:avLst/>
            <a:gdLst/>
            <a:ahLst/>
            <a:cxnLst/>
            <a:rect r="r" b="b" t="t" l="l"/>
            <a:pathLst>
              <a:path h="2068479" w="5088713">
                <a:moveTo>
                  <a:pt x="0" y="0"/>
                </a:moveTo>
                <a:lnTo>
                  <a:pt x="5088713" y="0"/>
                </a:lnTo>
                <a:lnTo>
                  <a:pt x="5088713" y="2068479"/>
                </a:lnTo>
                <a:lnTo>
                  <a:pt x="0" y="206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4263" y="2951431"/>
            <a:ext cx="4156813" cy="2192069"/>
          </a:xfrm>
          <a:custGeom>
            <a:avLst/>
            <a:gdLst/>
            <a:ahLst/>
            <a:cxnLst/>
            <a:rect r="r" b="b" t="t" l="l"/>
            <a:pathLst>
              <a:path h="2192069" w="4156813">
                <a:moveTo>
                  <a:pt x="0" y="0"/>
                </a:moveTo>
                <a:lnTo>
                  <a:pt x="4156813" y="0"/>
                </a:lnTo>
                <a:lnTo>
                  <a:pt x="4156813" y="2192069"/>
                </a:lnTo>
                <a:lnTo>
                  <a:pt x="0" y="21920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625881" y="2845594"/>
            <a:ext cx="5679112" cy="2297906"/>
          </a:xfrm>
          <a:custGeom>
            <a:avLst/>
            <a:gdLst/>
            <a:ahLst/>
            <a:cxnLst/>
            <a:rect r="r" b="b" t="t" l="l"/>
            <a:pathLst>
              <a:path h="2297906" w="5679112">
                <a:moveTo>
                  <a:pt x="0" y="0"/>
                </a:moveTo>
                <a:lnTo>
                  <a:pt x="5679112" y="0"/>
                </a:lnTo>
                <a:lnTo>
                  <a:pt x="5679112" y="2297906"/>
                </a:lnTo>
                <a:lnTo>
                  <a:pt x="0" y="22979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37498" y="8692525"/>
            <a:ext cx="6058061" cy="1322023"/>
          </a:xfrm>
          <a:custGeom>
            <a:avLst/>
            <a:gdLst/>
            <a:ahLst/>
            <a:cxnLst/>
            <a:rect r="r" b="b" t="t" l="l"/>
            <a:pathLst>
              <a:path h="1322023" w="6058061">
                <a:moveTo>
                  <a:pt x="0" y="0"/>
                </a:moveTo>
                <a:lnTo>
                  <a:pt x="6058061" y="0"/>
                </a:lnTo>
                <a:lnTo>
                  <a:pt x="6058061" y="1322023"/>
                </a:lnTo>
                <a:lnTo>
                  <a:pt x="0" y="13220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189460" y="6734623"/>
            <a:ext cx="5872406" cy="2807363"/>
          </a:xfrm>
          <a:custGeom>
            <a:avLst/>
            <a:gdLst/>
            <a:ahLst/>
            <a:cxnLst/>
            <a:rect r="r" b="b" t="t" l="l"/>
            <a:pathLst>
              <a:path h="2807363" w="5872406">
                <a:moveTo>
                  <a:pt x="0" y="0"/>
                </a:moveTo>
                <a:lnTo>
                  <a:pt x="5872407" y="0"/>
                </a:lnTo>
                <a:lnTo>
                  <a:pt x="5872407" y="2807363"/>
                </a:lnTo>
                <a:lnTo>
                  <a:pt x="0" y="28073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58717" y="166811"/>
            <a:ext cx="14646276" cy="1552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48"/>
              </a:lnSpc>
            </a:pPr>
            <a:r>
              <a:rPr lang="en-US" b="true" sz="910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Question 1 Explanation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5964" y="1889415"/>
            <a:ext cx="8946918" cy="470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65"/>
              </a:lnSpc>
            </a:pPr>
            <a:r>
              <a:rPr lang="en-US" sz="283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POST /usages (record usage) 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84263" y="2480458"/>
            <a:ext cx="3082265" cy="470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65"/>
              </a:lnSpc>
            </a:pPr>
            <a:r>
              <a:rPr lang="en-US" sz="283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Request Body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094370" y="2480458"/>
            <a:ext cx="3325180" cy="470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65"/>
              </a:lnSpc>
            </a:pPr>
            <a:r>
              <a:rPr lang="en-US" sz="283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Response Body 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25881" y="2374621"/>
            <a:ext cx="3325180" cy="470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65"/>
              </a:lnSpc>
            </a:pPr>
            <a:r>
              <a:rPr lang="en-US" sz="283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Error example 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5964" y="5564077"/>
            <a:ext cx="8946918" cy="470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65"/>
              </a:lnSpc>
            </a:pPr>
            <a:r>
              <a:rPr lang="en-US" sz="283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GET /usages (retrieve usage) 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84263" y="6206500"/>
            <a:ext cx="5650220" cy="2947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65"/>
              </a:lnSpc>
            </a:pPr>
            <a:r>
              <a:rPr lang="en-US" sz="283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Parameter :</a:t>
            </a:r>
          </a:p>
          <a:p>
            <a:pPr algn="l" marL="611594" indent="-305797" lvl="1">
              <a:lnSpc>
                <a:spcPts val="3965"/>
              </a:lnSpc>
              <a:buFont typeface="Arial"/>
              <a:buChar char="•"/>
            </a:pPr>
            <a:r>
              <a:rPr lang="en-US" b="true" sz="283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subscriberId (string)</a:t>
            </a:r>
          </a:p>
          <a:p>
            <a:pPr algn="l" marL="611594" indent="-305797" lvl="1">
              <a:lnSpc>
                <a:spcPts val="3965"/>
              </a:lnSpc>
              <a:buFont typeface="Arial"/>
              <a:buChar char="•"/>
            </a:pPr>
            <a:r>
              <a:rPr lang="en-US" b="true" sz="283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(datetime)</a:t>
            </a:r>
          </a:p>
          <a:p>
            <a:pPr algn="l" marL="611594" indent="-305797" lvl="1">
              <a:lnSpc>
                <a:spcPts val="3965"/>
              </a:lnSpc>
              <a:buFont typeface="Arial"/>
              <a:buChar char="•"/>
            </a:pPr>
            <a:r>
              <a:rPr lang="en-US" b="true" sz="283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 (datetime)</a:t>
            </a:r>
          </a:p>
          <a:p>
            <a:pPr algn="l">
              <a:lnSpc>
                <a:spcPts val="3965"/>
              </a:lnSpc>
            </a:pPr>
            <a:r>
              <a:rPr lang="en-US" sz="283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datetime timezone format :</a:t>
            </a:r>
          </a:p>
          <a:p>
            <a:pPr algn="l">
              <a:lnSpc>
                <a:spcPts val="3965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8023430" y="6044575"/>
            <a:ext cx="5442007" cy="470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65"/>
              </a:lnSpc>
            </a:pPr>
            <a:r>
              <a:rPr lang="en-US" sz="283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Example response (200 ok) :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58717" y="166811"/>
            <a:ext cx="14646276" cy="1552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48"/>
              </a:lnSpc>
            </a:pPr>
            <a:r>
              <a:rPr lang="en-US" b="true" sz="910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Question 1 Explanation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33911" y="1889582"/>
            <a:ext cx="8144866" cy="7764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10"/>
              </a:lnSpc>
            </a:pPr>
            <a:r>
              <a:rPr lang="en-US" sz="2578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Decision in building :</a:t>
            </a:r>
          </a:p>
          <a:p>
            <a:pPr algn="l" marL="556768" indent="-278384" lvl="1">
              <a:lnSpc>
                <a:spcPts val="3610"/>
              </a:lnSpc>
              <a:buAutoNum type="arabicPeriod" startAt="1"/>
            </a:pPr>
            <a:r>
              <a:rPr lang="en-US" b="true" sz="257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One retrieval with filter instead specialized one (like /subscribers/id/usages).</a:t>
            </a:r>
            <a:r>
              <a:rPr lang="en-US" sz="257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Filters compose freely, keep API surface small, and give the Q2 snapshot job exactly what it needs (to record for specific time window).</a:t>
            </a:r>
          </a:p>
          <a:p>
            <a:pPr algn="l" marL="556768" indent="-278384" lvl="1">
              <a:lnSpc>
                <a:spcPts val="3610"/>
              </a:lnSpc>
              <a:buAutoNum type="arabicPeriod" startAt="1"/>
            </a:pPr>
            <a:r>
              <a:rPr lang="en-US" b="true" sz="257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Separate input and output model.</a:t>
            </a:r>
            <a:r>
              <a:rPr lang="en-US" sz="257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UsageCreate define what client may send and UsageRecord add server owned (which id and timestamp). API contract is therefore explicit in code and in the generated swagger docs.</a:t>
            </a:r>
          </a:p>
          <a:p>
            <a:pPr algn="l" marL="556768" indent="-278384" lvl="1">
              <a:lnSpc>
                <a:spcPts val="3610"/>
              </a:lnSpc>
              <a:buAutoNum type="arabicPeriod" startAt="1"/>
            </a:pPr>
            <a:r>
              <a:rPr lang="en-US" b="true" sz="257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 memory store + single worker, keep application simple but safe for concurrent request. </a:t>
            </a:r>
            <a:r>
              <a:rPr lang="en-US" sz="257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ID generation guarded by lock, and with only one worker keeps the data consistent because only using in memory store.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981855" y="1889582"/>
            <a:ext cx="8144866" cy="5935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10"/>
              </a:lnSpc>
            </a:pPr>
            <a:r>
              <a:rPr lang="en-US" sz="2578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Known Limitation :</a:t>
            </a:r>
          </a:p>
          <a:p>
            <a:pPr algn="l" marL="556768" indent="-278384" lvl="1">
              <a:lnSpc>
                <a:spcPts val="3610"/>
              </a:lnSpc>
              <a:buAutoNum type="arabicPeriod" startAt="1"/>
            </a:pPr>
            <a:r>
              <a:rPr lang="en-US" b="true" sz="257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will be lost when restart &amp; only using one api worker. </a:t>
            </a:r>
            <a:r>
              <a:rPr lang="en-US" sz="257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Reason : drawback because of memory store. Solution : using persistent storing such as shared database then add more api worker.</a:t>
            </a:r>
          </a:p>
          <a:p>
            <a:pPr algn="l" marL="556768" indent="-278384" lvl="1">
              <a:lnSpc>
                <a:spcPts val="3610"/>
              </a:lnSpc>
              <a:buAutoNum type="arabicPeriod" startAt="1"/>
            </a:pPr>
            <a:r>
              <a:rPr lang="en-US" b="true" sz="257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 auth.  </a:t>
            </a:r>
            <a:r>
              <a:rPr lang="en-US" sz="257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Reason : to keep application simple. Solution : add API keys or oauth2.</a:t>
            </a:r>
          </a:p>
          <a:p>
            <a:pPr algn="l" marL="556768" indent="-278384" lvl="1">
              <a:lnSpc>
                <a:spcPts val="3610"/>
              </a:lnSpc>
              <a:buAutoNum type="arabicPeriod" startAt="1"/>
            </a:pPr>
            <a:r>
              <a:rPr lang="en-US" b="true" sz="257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 pagination. </a:t>
            </a:r>
            <a:r>
              <a:rPr lang="en-US" sz="257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Reason : to keep application simple and because there will be not much data because in memory store. Solution : cursor parameter or limit.</a:t>
            </a:r>
          </a:p>
          <a:p>
            <a:pPr algn="l">
              <a:lnSpc>
                <a:spcPts val="361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23491" y="169228"/>
            <a:ext cx="10841018" cy="1557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Question 2 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85038" y="2180086"/>
            <a:ext cx="16717924" cy="3684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79"/>
              </a:lnSpc>
            </a:pPr>
            <a:r>
              <a:rPr lang="en-US" sz="41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</a:t>
            </a:r>
            <a:r>
              <a:rPr lang="en-US" b="true" sz="41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rite a cron job that calls your own retrieval endpoint from Q1 3 times a day (08:00, 12:00, 15:00 WIB) and saves the response as a CSV file. Choose and document your own file naming convention. Write a separate script that removes CSV snapshots older than 30 days.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8354" y="6967589"/>
            <a:ext cx="6152783" cy="2571597"/>
          </a:xfrm>
          <a:custGeom>
            <a:avLst/>
            <a:gdLst/>
            <a:ahLst/>
            <a:cxnLst/>
            <a:rect r="r" b="b" t="t" l="l"/>
            <a:pathLst>
              <a:path h="2571597" w="6152783">
                <a:moveTo>
                  <a:pt x="0" y="0"/>
                </a:moveTo>
                <a:lnTo>
                  <a:pt x="6152783" y="0"/>
                </a:lnTo>
                <a:lnTo>
                  <a:pt x="6152783" y="2571597"/>
                </a:lnTo>
                <a:lnTo>
                  <a:pt x="0" y="25715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13024" y="169228"/>
            <a:ext cx="12541420" cy="1557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Question 2 Solution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9106" y="2199635"/>
            <a:ext cx="7938296" cy="3629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79"/>
              </a:lnSpc>
            </a:pPr>
            <a:r>
              <a:rPr lang="en-US" sz="41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Tools used :</a:t>
            </a:r>
          </a:p>
          <a:p>
            <a:pPr algn="l" marL="712468" indent="-356234" lvl="1">
              <a:lnSpc>
                <a:spcPts val="4619"/>
              </a:lnSpc>
              <a:buAutoNum type="arabicPeriod" startAt="1"/>
            </a:pPr>
            <a:r>
              <a:rPr lang="en-US" sz="32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Docker (run alongside other container using compose as scheduler container using Alpine with busybox crond)</a:t>
            </a:r>
          </a:p>
          <a:p>
            <a:pPr algn="l" marL="712468" indent="-356234" lvl="1">
              <a:lnSpc>
                <a:spcPts val="4619"/>
              </a:lnSpc>
              <a:buAutoNum type="arabicPeriod" startAt="1"/>
            </a:pPr>
            <a:r>
              <a:rPr lang="en-US" sz="32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Other tools : jq, curl, tzdata, bash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9106" y="6003790"/>
            <a:ext cx="5627012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Structure 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65946" y="7352453"/>
            <a:ext cx="530093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60"/>
              </a:lnSpc>
            </a:pPr>
            <a:r>
              <a:rPr lang="en-US" sz="19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Binded volume in host to store snapshot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65946" y="8607848"/>
            <a:ext cx="305207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60"/>
              </a:lnSpc>
            </a:pPr>
            <a:r>
              <a:rPr lang="en-US" sz="19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Scheduler image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65946" y="8189383"/>
            <a:ext cx="305207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60"/>
              </a:lnSpc>
            </a:pPr>
            <a:r>
              <a:rPr lang="en-US" sz="19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Cron schedule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65946" y="7770918"/>
            <a:ext cx="362465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60"/>
              </a:lnSpc>
            </a:pPr>
            <a:r>
              <a:rPr lang="en-US" sz="19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Snapshot cleanup script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464745" y="9026313"/>
            <a:ext cx="305207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60"/>
              </a:lnSpc>
            </a:pPr>
            <a:r>
              <a:rPr lang="en-US" sz="19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Snapshot script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411015" y="2414272"/>
            <a:ext cx="9482539" cy="7761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1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Quick Start :</a:t>
            </a:r>
          </a:p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Requirement : Docker with Compose Plugin.</a:t>
            </a:r>
          </a:p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(Run alongside Q1) </a:t>
            </a:r>
          </a:p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`</a:t>
            </a:r>
            <a:r>
              <a:rPr lang="en-US" sz="31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docker compose up -d --build `</a:t>
            </a:r>
            <a:r>
              <a:rPr lang="en-US" sz="3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to start.</a:t>
            </a:r>
          </a:p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`</a:t>
            </a:r>
            <a:r>
              <a:rPr lang="en-US" sz="31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docker compose down` to stop.`</a:t>
            </a:r>
          </a:p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Manually Run :</a:t>
            </a:r>
          </a:p>
          <a:p>
            <a:pPr algn="l" marL="431805" indent="-215903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Take a snapshot for the most recent slot:</a:t>
            </a: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docker compose exec scheduler /app/snapshot.sh</a:t>
            </a:r>
          </a:p>
          <a:p>
            <a:pPr algn="l" marL="431805" indent="-215903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Take a snapshot for a specific slot, e.g. to include records you just created:</a:t>
            </a: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docker compose exec -e SNAPSHOT_AT="2026-09-23 12:00" scheduler /app/snapshot.sh</a:t>
            </a:r>
          </a:p>
          <a:p>
            <a:pPr algn="l" marL="431805" indent="-215903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Preview the cleanup without deleting anything:</a:t>
            </a: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docker compose exec -e DRY_RUN=1 scheduler /app/cleanup.sh</a:t>
            </a:r>
          </a:p>
          <a:p>
            <a:pPr algn="l" marL="431805" indent="-215903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Run the cleanup:</a:t>
            </a: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docker compose exec scheduler /app/cleanup.sh</a:t>
            </a:r>
          </a:p>
          <a:p>
            <a:pPr algn="l" marL="431805" indent="-215903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View job output:</a:t>
            </a: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docker compose logs scheduler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06664" y="35878"/>
            <a:ext cx="15074672" cy="1557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Question 2 Explanation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5123" y="1597036"/>
            <a:ext cx="8545583" cy="4057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9"/>
              </a:lnSpc>
            </a:pPr>
            <a:r>
              <a:rPr lang="en-US" sz="30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Architecture :</a:t>
            </a:r>
          </a:p>
          <a:p>
            <a:pPr algn="l" marL="474984" indent="-237492" lvl="1">
              <a:lnSpc>
                <a:spcPts val="3080"/>
              </a:lnSpc>
              <a:buAutoNum type="arabicPeriod" startAt="1"/>
            </a:pPr>
            <a:r>
              <a:rPr lang="en-US" sz="2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crond run as the container main process and read crontab </a:t>
            </a:r>
          </a:p>
          <a:p>
            <a:pPr algn="l" marL="474984" indent="-237492" lvl="1">
              <a:lnSpc>
                <a:spcPts val="3080"/>
              </a:lnSpc>
              <a:buAutoNum type="arabicPeriod" startAt="1"/>
            </a:pPr>
            <a:r>
              <a:rPr lang="en-US" sz="2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snapshot.sh will be run 3 times a day with filter that has been built before.</a:t>
            </a:r>
          </a:p>
          <a:p>
            <a:pPr algn="l" marL="474984" indent="-237492" lvl="1">
              <a:lnSpc>
                <a:spcPts val="3080"/>
              </a:lnSpc>
              <a:buAutoNum type="arabicPeriod" startAt="1"/>
            </a:pPr>
            <a:r>
              <a:rPr lang="en-US" sz="2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Result will be written to /data/snapshots (container) which binded to q2/snapshots on the host.</a:t>
            </a:r>
          </a:p>
          <a:p>
            <a:pPr algn="l" marL="474984" indent="-237492" lvl="1">
              <a:lnSpc>
                <a:spcPts val="3080"/>
              </a:lnSpc>
              <a:buAutoNum type="arabicPeriod" startAt="1"/>
            </a:pPr>
            <a:r>
              <a:rPr lang="en-US" sz="2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Everyday at 00:30 cleanup script will be executed</a:t>
            </a:r>
          </a:p>
          <a:p>
            <a:pPr algn="l" marL="474984" indent="-237492" lvl="1">
              <a:lnSpc>
                <a:spcPts val="3080"/>
              </a:lnSpc>
              <a:buAutoNum type="arabicPeriod" startAt="1"/>
            </a:pPr>
            <a:r>
              <a:rPr lang="en-US" sz="2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Job output also goes to stdout, so it shows up in docker compose log.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3510" y="5784398"/>
            <a:ext cx="8508807" cy="414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9"/>
              </a:lnSpc>
            </a:pPr>
            <a:r>
              <a:rPr lang="en-US" sz="31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 :</a:t>
            </a:r>
          </a:p>
          <a:p>
            <a:pPr algn="l" marL="496574" indent="-248287" lvl="1">
              <a:lnSpc>
                <a:spcPts val="3220"/>
              </a:lnSpc>
              <a:buAutoNum type="arabicPeriod" startAt="1"/>
            </a:pPr>
            <a:r>
              <a:rPr lang="en-US"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If the scheduler run at 08:00, time window that will be exported are 15:00 in yesterday and 08:00.</a:t>
            </a:r>
          </a:p>
          <a:p>
            <a:pPr algn="l" marL="496574" indent="-248287" lvl="1">
              <a:lnSpc>
                <a:spcPts val="3220"/>
              </a:lnSpc>
              <a:buAutoNum type="arabicPeriod" startAt="1"/>
            </a:pPr>
            <a:r>
              <a:rPr lang="en-US"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If the scheduler run at 12:00, time window that will be exported are in 08:00 and 12:00.</a:t>
            </a:r>
          </a:p>
          <a:p>
            <a:pPr algn="l" marL="496574" indent="-248287" lvl="1">
              <a:lnSpc>
                <a:spcPts val="3220"/>
              </a:lnSpc>
              <a:buAutoNum type="arabicPeriod" startAt="1"/>
            </a:pPr>
            <a:r>
              <a:rPr lang="en-US"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If the scheduler run at 15:00, time window that will be exported are in 12:00 and 15:00</a:t>
            </a:r>
          </a:p>
          <a:p>
            <a:pPr algn="l" marL="496574" indent="-248287" lvl="1">
              <a:lnSpc>
                <a:spcPts val="3220"/>
              </a:lnSpc>
              <a:buAutoNum type="arabicPeriod" startAt="1"/>
            </a:pPr>
            <a:r>
              <a:rPr lang="en-US"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Exit codes for script : 0 success, 1 API req/csv conversion failed, 2 invalid input caused by malformed variables.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274808" y="1606561"/>
            <a:ext cx="8640512" cy="477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Naming :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File naming convention:</a:t>
            </a: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usage_snapshot_YYYYMMDD_HHMM_WIB.csv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Example: </a:t>
            </a:r>
            <a:r>
              <a:rPr lang="en-US" sz="20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usage_snapshot_20260923_1200_WIB.csv</a:t>
            </a:r>
          </a:p>
          <a:p>
            <a:pPr algn="l" marL="431805" indent="-215903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HHMM is the end of the exported window (08:00, 12:00 or 15:00), not the time the script ran.</a:t>
            </a:r>
          </a:p>
          <a:p>
            <a:pPr algn="l" marL="431805" indent="-215903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format sorts chronologically, so ls lists snapshots in time order.</a:t>
            </a:r>
          </a:p>
          <a:p>
            <a:pPr algn="l" marL="431805" indent="-215903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Re-running the same slot overwrites the same file instead of creating a duplicate.</a:t>
            </a:r>
          </a:p>
          <a:p>
            <a:pPr algn="l" marL="431805" indent="-215903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cleanup script reads each file's age from its name, not from its modification time.</a:t>
            </a:r>
          </a:p>
          <a:p>
            <a:pPr algn="l">
              <a:lnSpc>
                <a:spcPts val="294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6127750"/>
            <a:ext cx="8640512" cy="4057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9"/>
              </a:lnSpc>
            </a:pPr>
            <a:r>
              <a:rPr lang="en-US" sz="30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CSV Format :</a:t>
            </a:r>
          </a:p>
          <a:p>
            <a:pPr algn="l" marL="474984" indent="-237492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Columns: id, subscriberId, callMinutes, smsCount, dataUsageMB, timestamp, the same fields as a Q1 usage record.</a:t>
            </a:r>
          </a:p>
          <a:p>
            <a:pPr algn="l" marL="474984" indent="-237492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Timestamps are in WIB with an explicit offset, e.g. 2026-09-23T07:12:05+07:00.</a:t>
            </a:r>
          </a:p>
          <a:p>
            <a:pPr algn="l" marL="474984" indent="-237492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An empty window still produces a file containing only the header, so "no usage" can be told apart from "the job failed".</a:t>
            </a:r>
          </a:p>
          <a:p>
            <a:pPr algn="l">
              <a:lnSpc>
                <a:spcPts val="308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06664" y="35878"/>
            <a:ext cx="15074672" cy="1557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Question 2 Explanation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99209" y="2143125"/>
            <a:ext cx="8476179" cy="5304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79"/>
              </a:lnSpc>
            </a:pPr>
            <a:r>
              <a:rPr lang="en-US" sz="41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Decision :</a:t>
            </a:r>
          </a:p>
          <a:p>
            <a:pPr algn="l" marL="561342" indent="-280671" lvl="1">
              <a:lnSpc>
                <a:spcPts val="3640"/>
              </a:lnSpc>
              <a:buAutoNum type="arabicPeriod" startAt="1"/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Container instead host cron so reviewer don’t have to configure anything.</a:t>
            </a:r>
          </a:p>
          <a:p>
            <a:pPr algn="l" marL="561342" indent="-280671" lvl="1">
              <a:lnSpc>
                <a:spcPts val="3640"/>
              </a:lnSpc>
              <a:buAutoNum type="arabicPeriod" startAt="1"/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One window per snapshot to avoid duplications.</a:t>
            </a:r>
          </a:p>
          <a:p>
            <a:pPr algn="l" marL="561342" indent="-280671" lvl="1">
              <a:lnSpc>
                <a:spcPts val="3640"/>
              </a:lnSpc>
              <a:buAutoNum type="arabicPeriod" startAt="1"/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Write snapshot in tmp before writing, there is never a half written csv. Failure means no file (csv never contains an error message).</a:t>
            </a:r>
          </a:p>
          <a:p>
            <a:pPr algn="l" marL="561342" indent="-280671" lvl="1">
              <a:lnSpc>
                <a:spcPts val="3640"/>
              </a:lnSpc>
              <a:buAutoNum type="arabicPeriod" startAt="1"/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Windows derived from the schedule (idempotent) re running a slot overwrite the same file.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0" y="2143125"/>
            <a:ext cx="8667040" cy="617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79"/>
              </a:lnSpc>
            </a:pPr>
            <a:r>
              <a:rPr lang="en-US" sz="41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Known Weakness:</a:t>
            </a:r>
          </a:p>
          <a:p>
            <a:pPr algn="l" marL="604521" indent="-302261" lvl="1">
              <a:lnSpc>
                <a:spcPts val="3920"/>
              </a:lnSpc>
              <a:buAutoNum type="arabicPeriod" startAt="1"/>
            </a:pPr>
            <a:r>
              <a:rPr lang="en-US" b="true" sz="28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BusyBox crond runs as root.</a:t>
            </a:r>
            <a:r>
              <a:rPr lang="en-US"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Supercronic is an alternative to BusyBox but requie installing additional binary.</a:t>
            </a:r>
          </a:p>
          <a:p>
            <a:pPr algn="l" marL="604521" indent="-302261" lvl="1">
              <a:lnSpc>
                <a:spcPts val="3920"/>
              </a:lnSpc>
              <a:buAutoNum type="arabicPeriod" startAt="1"/>
            </a:pPr>
            <a:r>
              <a:rPr lang="en-US" b="true" sz="28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CSV(s) are stored only on local disk. </a:t>
            </a:r>
            <a:r>
              <a:rPr lang="en-US"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Solution : store it also in object storage such as in AWS S3.</a:t>
            </a:r>
          </a:p>
          <a:p>
            <a:pPr algn="l" marL="604521" indent="-302261" lvl="1">
              <a:lnSpc>
                <a:spcPts val="3920"/>
              </a:lnSpc>
              <a:buAutoNum type="arabicPeriod" startAt="1"/>
            </a:pPr>
            <a:r>
              <a:rPr lang="en-US" b="true" sz="28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 a linux host, CSV(s) are created as root. Regular user needs sudo to delete them.</a:t>
            </a:r>
          </a:p>
          <a:p>
            <a:pPr algn="l" marL="604521" indent="-302261" lvl="1">
              <a:lnSpc>
                <a:spcPts val="3920"/>
              </a:lnSpc>
              <a:buAutoNum type="arabicPeriod" startAt="1"/>
            </a:pPr>
            <a:r>
              <a:rPr lang="en-US" b="true" sz="28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File that doesn’t match naming convention will never be deleted by cleanup script.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23491" y="169228"/>
            <a:ext cx="10841018" cy="1557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Question 3 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85038" y="2039716"/>
            <a:ext cx="17230936" cy="740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13"/>
              </a:lnSpc>
            </a:pPr>
            <a:r>
              <a:rPr lang="en-US" sz="3224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Assume </a:t>
            </a:r>
            <a:r>
              <a:rPr lang="en-US" b="true" sz="322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CSV snapshots produced by your Q2 script have been loaded into a usage table with the same fields as your Q1 API's usage records (subscriberId, callMinutes, smsCount, dataUsageMB, timestamp). Write SQL to:</a:t>
            </a:r>
          </a:p>
          <a:p>
            <a:pPr algn="just">
              <a:lnSpc>
                <a:spcPts val="4513"/>
              </a:lnSpc>
            </a:pPr>
            <a:r>
              <a:rPr lang="en-US" b="true" sz="322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 Insert a new subscriber named Fajar, Basic plan, activated 24 January 2024.</a:t>
            </a:r>
          </a:p>
          <a:p>
            <a:pPr algn="just">
              <a:lnSpc>
                <a:spcPts val="4513"/>
              </a:lnSpc>
            </a:pPr>
            <a:r>
              <a:rPr lang="en-US" b="true" sz="322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 Update Fajar's plan to Premium.</a:t>
            </a:r>
          </a:p>
          <a:p>
            <a:pPr algn="just">
              <a:lnSpc>
                <a:spcPts val="4513"/>
              </a:lnSpc>
            </a:pPr>
            <a:r>
              <a:rPr lang="en-US" b="true" sz="322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3. Calculate the total data usage (sum of dataUsageMB across all snapshots) for all Premium-</a:t>
            </a:r>
          </a:p>
          <a:p>
            <a:pPr algn="just">
              <a:lnSpc>
                <a:spcPts val="4513"/>
              </a:lnSpc>
            </a:pPr>
            <a:r>
              <a:rPr lang="en-US" b="true" sz="322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plan subscribers.</a:t>
            </a:r>
          </a:p>
          <a:p>
            <a:pPr algn="just">
              <a:lnSpc>
                <a:spcPts val="4513"/>
              </a:lnSpc>
            </a:pPr>
            <a:r>
              <a:rPr lang="en-US" b="true" sz="322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4. Sort and display the top 3 subscribers by total data usage across all snapshots.</a:t>
            </a:r>
          </a:p>
          <a:p>
            <a:pPr algn="just">
              <a:lnSpc>
                <a:spcPts val="4513"/>
              </a:lnSpc>
            </a:pPr>
            <a:r>
              <a:rPr lang="en-US" b="true" sz="322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5. Write a subquery to find subscribers whose average call minutes per snapshot is less than or</a:t>
            </a:r>
          </a:p>
          <a:p>
            <a:pPr algn="just">
              <a:lnSpc>
                <a:spcPts val="4513"/>
              </a:lnSpc>
            </a:pPr>
            <a:r>
              <a:rPr lang="en-US" b="true" sz="322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equal to 30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53406" y="3540090"/>
            <a:ext cx="7279022" cy="2898725"/>
          </a:xfrm>
          <a:custGeom>
            <a:avLst/>
            <a:gdLst/>
            <a:ahLst/>
            <a:cxnLst/>
            <a:rect r="r" b="b" t="t" l="l"/>
            <a:pathLst>
              <a:path h="2898725" w="7279022">
                <a:moveTo>
                  <a:pt x="0" y="0"/>
                </a:moveTo>
                <a:lnTo>
                  <a:pt x="7279022" y="0"/>
                </a:lnTo>
                <a:lnTo>
                  <a:pt x="7279022" y="2898725"/>
                </a:lnTo>
                <a:lnTo>
                  <a:pt x="0" y="28987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13024" y="169228"/>
            <a:ext cx="12541420" cy="1557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Question 3 Solution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51262" y="1867768"/>
            <a:ext cx="10402144" cy="9065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Quick Start :</a:t>
            </a:r>
          </a:p>
          <a:p>
            <a:pPr algn="l">
              <a:lnSpc>
                <a:spcPts val="4760"/>
              </a:lnSpc>
            </a:pPr>
            <a:r>
              <a:rPr lang="en-US" sz="3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Image to run sql query already included in docker compose including its schema and seeder query.</a:t>
            </a:r>
          </a:p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Requirement : Docker with Compose Plugin.</a:t>
            </a:r>
          </a:p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(Run alongside Q1) </a:t>
            </a:r>
          </a:p>
          <a:p>
            <a:pPr algn="l">
              <a:lnSpc>
                <a:spcPts val="4619"/>
              </a:lnSpc>
            </a:pPr>
            <a:r>
              <a:rPr lang="en-US" sz="32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`docker compose up -d --build --wait`</a:t>
            </a:r>
            <a:r>
              <a:rPr lang="en-US" sz="32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to start.</a:t>
            </a:r>
          </a:p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`</a:t>
            </a:r>
            <a:r>
              <a:rPr lang="en-US" sz="32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docker compose down` </a:t>
            </a:r>
            <a:r>
              <a:rPr lang="en-US" sz="32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to stop.</a:t>
            </a:r>
          </a:p>
          <a:p>
            <a:pPr algn="l">
              <a:lnSpc>
                <a:spcPts val="4619"/>
              </a:lnSpc>
            </a:pPr>
            <a:r>
              <a:rPr lang="en-US" sz="32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`docker compose up -d --force-recreate -V db`</a:t>
            </a:r>
            <a:r>
              <a:rPr lang="en-US" sz="32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to reset database.</a:t>
            </a:r>
          </a:p>
          <a:p>
            <a:pPr algn="l">
              <a:lnSpc>
                <a:spcPts val="4619"/>
              </a:lnSpc>
            </a:pPr>
            <a:r>
              <a:rPr lang="en-US" sz="32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“q3/q3.sh” </a:t>
            </a:r>
            <a:r>
              <a:rPr lang="en-US" sz="32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is a script to run answer query after db has been initialized</a:t>
            </a:r>
          </a:p>
          <a:p>
            <a:pPr algn="l">
              <a:lnSpc>
                <a:spcPts val="4619"/>
              </a:lnSpc>
            </a:pPr>
          </a:p>
          <a:p>
            <a:pPr algn="l">
              <a:lnSpc>
                <a:spcPts val="4619"/>
              </a:lnSpc>
            </a:pPr>
          </a:p>
          <a:p>
            <a:pPr algn="just">
              <a:lnSpc>
                <a:spcPts val="587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4223556" y="4703871"/>
            <a:ext cx="3808872" cy="533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18"/>
              </a:lnSpc>
            </a:pPr>
            <a:r>
              <a:rPr lang="en-US" sz="1513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Schema and seeder. Binded to initdb in container (automatically run)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959531" y="5491582"/>
            <a:ext cx="3808872" cy="266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18"/>
              </a:lnSpc>
            </a:pPr>
            <a:r>
              <a:rPr lang="en-US" sz="1513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Query to answer the question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450428" y="5956300"/>
            <a:ext cx="4317975" cy="266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18"/>
              </a:lnSpc>
            </a:pPr>
            <a:r>
              <a:rPr lang="en-US" sz="1513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Script to inject answer to db in container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1197" y="3082337"/>
            <a:ext cx="8597500" cy="4909564"/>
          </a:xfrm>
          <a:custGeom>
            <a:avLst/>
            <a:gdLst/>
            <a:ahLst/>
            <a:cxnLst/>
            <a:rect r="r" b="b" t="t" l="l"/>
            <a:pathLst>
              <a:path h="4909564" w="8597500">
                <a:moveTo>
                  <a:pt x="0" y="0"/>
                </a:moveTo>
                <a:lnTo>
                  <a:pt x="8597500" y="0"/>
                </a:lnTo>
                <a:lnTo>
                  <a:pt x="8597500" y="4909565"/>
                </a:lnTo>
                <a:lnTo>
                  <a:pt x="0" y="4909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47241" y="3008685"/>
            <a:ext cx="7673250" cy="5056870"/>
          </a:xfrm>
          <a:custGeom>
            <a:avLst/>
            <a:gdLst/>
            <a:ahLst/>
            <a:cxnLst/>
            <a:rect r="r" b="b" t="t" l="l"/>
            <a:pathLst>
              <a:path h="5056870" w="7673250">
                <a:moveTo>
                  <a:pt x="0" y="0"/>
                </a:moveTo>
                <a:lnTo>
                  <a:pt x="7673251" y="0"/>
                </a:lnTo>
                <a:lnTo>
                  <a:pt x="7673251" y="5056869"/>
                </a:lnTo>
                <a:lnTo>
                  <a:pt x="0" y="50568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613024" y="169228"/>
            <a:ext cx="12541420" cy="1557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Question 3 Solution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51262" y="1867768"/>
            <a:ext cx="4208685" cy="66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8"/>
              </a:lnSpc>
            </a:pPr>
            <a:r>
              <a:rPr lang="en-US" sz="389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 Output :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58715" y="2702344"/>
            <a:ext cx="10772423" cy="2244953"/>
          </a:xfrm>
          <a:custGeom>
            <a:avLst/>
            <a:gdLst/>
            <a:ahLst/>
            <a:cxnLst/>
            <a:rect r="r" b="b" t="t" l="l"/>
            <a:pathLst>
              <a:path h="2244953" w="10772423">
                <a:moveTo>
                  <a:pt x="0" y="0"/>
                </a:moveTo>
                <a:lnTo>
                  <a:pt x="10772422" y="0"/>
                </a:lnTo>
                <a:lnTo>
                  <a:pt x="10772422" y="2244953"/>
                </a:lnTo>
                <a:lnTo>
                  <a:pt x="0" y="22449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23491" y="169228"/>
            <a:ext cx="10841018" cy="1557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Question 4 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28532" y="5371116"/>
            <a:ext cx="17230936" cy="1118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13"/>
              </a:lnSpc>
            </a:pPr>
            <a:r>
              <a:rPr lang="en-US" sz="3224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Ide</a:t>
            </a:r>
            <a:r>
              <a:rPr lang="en-US" b="true" sz="322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ntify the root cause of the bug, fix it, and explain in writing why it broke and how you would prevent this class of bug in the future.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2666081"/>
            <a:ext cx="8843505" cy="1134847"/>
          </a:xfrm>
          <a:custGeom>
            <a:avLst/>
            <a:gdLst/>
            <a:ahLst/>
            <a:cxnLst/>
            <a:rect r="r" b="b" t="t" l="l"/>
            <a:pathLst>
              <a:path h="1134847" w="8843505">
                <a:moveTo>
                  <a:pt x="0" y="0"/>
                </a:moveTo>
                <a:lnTo>
                  <a:pt x="8843505" y="0"/>
                </a:lnTo>
                <a:lnTo>
                  <a:pt x="8843505" y="1134847"/>
                </a:lnTo>
                <a:lnTo>
                  <a:pt x="0" y="11348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69184" y="169228"/>
            <a:ext cx="12749633" cy="1557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Question 4 Solution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63234" y="2170698"/>
            <a:ext cx="8086936" cy="7296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73"/>
              </a:lnSpc>
            </a:pPr>
            <a:r>
              <a:rPr lang="en-US" sz="2624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Root Cause :</a:t>
            </a:r>
          </a:p>
          <a:p>
            <a:pPr algn="l" marL="566567" indent="-283284" lvl="1">
              <a:lnSpc>
                <a:spcPts val="3673"/>
              </a:lnSpc>
              <a:buFont typeface="Arial"/>
              <a:buChar char="•"/>
            </a:pPr>
            <a:r>
              <a:rPr lang="en-US" sz="262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callback has no return. With braces { }, an arrow function returns undefined unless it returns explicitly. total += ... only changes a local variable, and reduce uses the callback return value as the next total.</a:t>
            </a:r>
          </a:p>
          <a:p>
            <a:pPr algn="l" marL="566567" indent="-283284" lvl="1">
              <a:lnSpc>
                <a:spcPts val="3673"/>
              </a:lnSpc>
              <a:buFont typeface="Arial"/>
              <a:buChar char="•"/>
            </a:pPr>
            <a:r>
              <a:rPr lang="en-US" sz="262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There is no initial value. Without the second argument, reduce starts with the first array element (a record object) instead of 0.</a:t>
            </a:r>
          </a:p>
          <a:p>
            <a:pPr algn="l">
              <a:lnSpc>
                <a:spcPts val="3673"/>
              </a:lnSpc>
            </a:pPr>
          </a:p>
          <a:p>
            <a:pPr algn="l">
              <a:lnSpc>
                <a:spcPts val="3673"/>
              </a:lnSpc>
            </a:pPr>
            <a:r>
              <a:rPr lang="en-US" sz="2624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 its fatal? :</a:t>
            </a:r>
          </a:p>
          <a:p>
            <a:pPr algn="l" marL="566567" indent="-283284" lvl="1">
              <a:lnSpc>
                <a:spcPts val="3673"/>
              </a:lnSpc>
              <a:buFont typeface="Arial"/>
              <a:buChar char="•"/>
            </a:pPr>
            <a:r>
              <a:rPr lang="en-US" sz="262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For two or more records, JavaScript throws no error. The function silently returns undefined, and the problem only surfaces later, for example as NaN or a blank value on a dashboard, far away from its cause.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0" y="1993428"/>
            <a:ext cx="8086936" cy="895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73"/>
              </a:lnSpc>
            </a:pPr>
            <a:r>
              <a:rPr lang="en-US" sz="2624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Fix :</a:t>
            </a:r>
          </a:p>
          <a:p>
            <a:pPr algn="just">
              <a:lnSpc>
                <a:spcPts val="3673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313751" y="3753303"/>
            <a:ext cx="8086936" cy="1809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6567" indent="-283284" lvl="1">
              <a:lnSpc>
                <a:spcPts val="3673"/>
              </a:lnSpc>
              <a:buFont typeface="Arial"/>
              <a:buChar char="•"/>
            </a:pPr>
            <a:r>
              <a:rPr lang="en-US" sz="262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Arrow function without braces, so that result expression automatically returned.</a:t>
            </a:r>
          </a:p>
          <a:p>
            <a:pPr algn="l" marL="566567" indent="-283284" lvl="1">
              <a:lnSpc>
                <a:spcPts val="3673"/>
              </a:lnSpc>
              <a:buFont typeface="Arial"/>
              <a:buChar char="•"/>
            </a:pPr>
            <a:r>
              <a:rPr lang="en-US" sz="262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Add initial value of 0 so that math operation always start as a number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72364" y="5609223"/>
            <a:ext cx="8815142" cy="4691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93"/>
              </a:lnSpc>
            </a:pPr>
            <a:r>
              <a:rPr lang="en-US" sz="2424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Prevention :</a:t>
            </a:r>
          </a:p>
          <a:p>
            <a:pPr algn="just">
              <a:lnSpc>
                <a:spcPts val="3393"/>
              </a:lnSpc>
            </a:pPr>
            <a:r>
              <a:rPr lang="en-US" sz="242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As a DevOps, the best way to prevent this :</a:t>
            </a:r>
          </a:p>
          <a:p>
            <a:pPr algn="l" marL="523389" indent="-261694" lvl="1">
              <a:lnSpc>
                <a:spcPts val="3393"/>
              </a:lnSpc>
              <a:buAutoNum type="arabicPeriod" startAt="1"/>
            </a:pPr>
            <a:r>
              <a:rPr lang="en-US" b="true" sz="242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Integrate linter. </a:t>
            </a:r>
            <a:r>
              <a:rPr lang="en-US" sz="242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ESLint linter will catch precisely this bug. (Callback using reduce, map, filter without returning value).</a:t>
            </a:r>
          </a:p>
          <a:p>
            <a:pPr algn="l" marL="523389" indent="-261694" lvl="1">
              <a:lnSpc>
                <a:spcPts val="3393"/>
              </a:lnSpc>
              <a:buAutoNum type="arabicPeriod" startAt="1"/>
            </a:pPr>
            <a:r>
              <a:rPr lang="en-US" b="true" sz="242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Typechecking.</a:t>
            </a:r>
            <a:r>
              <a:rPr lang="en-US" sz="242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Adding interface for such type to avoid type mismatch.</a:t>
            </a:r>
          </a:p>
          <a:p>
            <a:pPr algn="l" marL="523389" indent="-261694" lvl="1">
              <a:lnSpc>
                <a:spcPts val="3393"/>
              </a:lnSpc>
              <a:buAutoNum type="arabicPeriod" startAt="1"/>
            </a:pPr>
            <a:r>
              <a:rPr lang="en-US" b="true" sz="242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Integrate unit test and adopting TDD.</a:t>
            </a:r>
          </a:p>
          <a:p>
            <a:pPr algn="l" marL="523389" indent="-261694" lvl="1">
              <a:lnSpc>
                <a:spcPts val="3393"/>
              </a:lnSpc>
              <a:buAutoNum type="arabicPeriod" startAt="1"/>
            </a:pPr>
            <a:r>
              <a:rPr lang="en-US" b="true" sz="242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Integrate point 1-3 as gate in CI pipeline and run it on every PR check.</a:t>
            </a:r>
          </a:p>
          <a:p>
            <a:pPr algn="just">
              <a:lnSpc>
                <a:spcPts val="3393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88494" y="4017328"/>
            <a:ext cx="10511013" cy="1823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DAHV83Fp5cc</dc:identifier>
  <dcterms:modified xsi:type="dcterms:W3CDTF">2011-08-01T06:04:30Z</dcterms:modified>
  <cp:revision>1</cp:revision>
  <dc:title>Technical test</dc:title>
</cp:coreProperties>
</file>